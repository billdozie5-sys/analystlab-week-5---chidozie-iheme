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E2761"/>
                </a:solidFill>
                <a:latin typeface="Arial"/>
              </a:defRPr>
            </a:pPr>
            <a:r>
              <a:rPr lang="en-GB" sz="1300" b="0" i="0" u="none" strike="noStrike">
                <a:solidFill>
                  <a:srgbClr val="1E2761"/>
                </a:solidFill>
                <a:latin typeface="Arial"/>
              </a:rPr>
              <a:t>By Education</a:t>
            </a:r>
          </a:p>
        </c:rich>
      </c:tx>
      <c:overlay val="0"/>
    </c:title>
    <c:autoTitleDeleted val="0"/>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57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2286000"/>
            <a:ext cx="10698480" cy="109728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BANK MARKETING CAMPAIGN ANALYSIS</a:t>
            </a:r>
            <a:endParaRPr lang="en-US" sz="4000" dirty="0"/>
          </a:p>
        </p:txBody>
      </p:sp>
      <p:sp>
        <p:nvSpPr>
          <p:cNvPr id="3" name="Text 1"/>
          <p:cNvSpPr/>
          <p:nvPr/>
        </p:nvSpPr>
        <p:spPr>
          <a:xfrm>
            <a:off x="762000" y="3307080"/>
            <a:ext cx="10698480" cy="548640"/>
          </a:xfrm>
          <a:prstGeom prst="rect">
            <a:avLst/>
          </a:prstGeom>
          <a:noFill/>
          <a:ln/>
        </p:spPr>
        <p:txBody>
          <a:bodyPr wrap="square" rtlCol="0" anchor="ctr"/>
          <a:lstStyle/>
          <a:p>
            <a:pPr marL="0" indent="0" algn="l">
              <a:buNone/>
            </a:pPr>
            <a:r>
              <a:rPr lang="en-US" sz="2000" dirty="0">
                <a:solidFill>
                  <a:srgbClr val="CADCFC"/>
                </a:solidFill>
                <a:latin typeface="Calibri" pitchFamily="34" charset="0"/>
                <a:ea typeface="Calibri" pitchFamily="34" charset="-122"/>
                <a:cs typeface="Calibri" pitchFamily="34" charset="-120"/>
              </a:rPr>
              <a:t>Understanding the Drivers of Term Deposit Subscription</a:t>
            </a:r>
            <a:endParaRPr lang="en-US" sz="2000" dirty="0"/>
          </a:p>
        </p:txBody>
      </p:sp>
      <p:sp>
        <p:nvSpPr>
          <p:cNvPr id="4" name="Shape 2"/>
          <p:cNvSpPr/>
          <p:nvPr/>
        </p:nvSpPr>
        <p:spPr>
          <a:xfrm>
            <a:off x="10332720" y="548640"/>
            <a:ext cx="1463040" cy="1463040"/>
          </a:xfrm>
          <a:prstGeom prst="ellipse">
            <a:avLst/>
          </a:prstGeom>
          <a:solidFill>
            <a:srgbClr val="D4A017"/>
          </a:solidFill>
          <a:ln/>
        </p:spPr>
        <p:txBody>
          <a:bodyPr/>
          <a:lstStyle/>
          <a:p>
            <a:endParaRPr lang="en-NG"/>
          </a:p>
        </p:txBody>
      </p:sp>
      <p:sp>
        <p:nvSpPr>
          <p:cNvPr id="5" name="Text 3"/>
          <p:cNvSpPr/>
          <p:nvPr/>
        </p:nvSpPr>
        <p:spPr>
          <a:xfrm>
            <a:off x="10332720" y="548640"/>
            <a:ext cx="1463040" cy="1463040"/>
          </a:xfrm>
          <a:prstGeom prst="rect">
            <a:avLst/>
          </a:prstGeom>
          <a:noFill/>
          <a:ln/>
        </p:spPr>
        <p:txBody>
          <a:bodyPr wrap="square" rtlCol="0" anchor="ctr"/>
          <a:lstStyle/>
          <a:p>
            <a:pPr marL="0" indent="0" algn="ctr">
              <a:buNone/>
            </a:pPr>
            <a:r>
              <a:rPr lang="en-US" sz="4400" b="1" dirty="0">
                <a:solidFill>
                  <a:srgbClr val="1E2761"/>
                </a:solidFill>
                <a:latin typeface="Cambria" pitchFamily="34" charset="0"/>
                <a:ea typeface="Cambria" pitchFamily="34" charset="-122"/>
                <a:cs typeface="Cambria" pitchFamily="34" charset="-120"/>
              </a:rPr>
              <a:t>₦</a:t>
            </a:r>
            <a:endParaRPr lang="en-US" sz="4400" dirty="0"/>
          </a:p>
        </p:txBody>
      </p:sp>
      <p:sp>
        <p:nvSpPr>
          <p:cNvPr id="6" name="Text 4"/>
          <p:cNvSpPr/>
          <p:nvPr/>
        </p:nvSpPr>
        <p:spPr>
          <a:xfrm>
            <a:off x="731520" y="6035040"/>
            <a:ext cx="10698480" cy="5486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AnalystLab Africa Internship  |  Batch B  |  Week 5 Case Study</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Prepared by Chidozie  Williams </a:t>
            </a:r>
            <a:r>
              <a:rPr lang="en-US" sz="1200" dirty="0" err="1">
                <a:solidFill>
                  <a:srgbClr val="CADCFC"/>
                </a:solidFill>
                <a:latin typeface="Calibri" pitchFamily="34" charset="0"/>
                <a:ea typeface="Calibri" pitchFamily="34" charset="-122"/>
                <a:cs typeface="Calibri" pitchFamily="34" charset="-120"/>
              </a:rPr>
              <a:t>Iheme</a:t>
            </a:r>
            <a:endParaRPr lang="en-US" sz="1200" dirty="0">
              <a:solidFill>
                <a:srgbClr val="CADCFC"/>
              </a:solidFill>
              <a:latin typeface="Calibri" pitchFamily="34" charset="0"/>
              <a:ea typeface="Calibri" pitchFamily="34" charset="-122"/>
              <a:cs typeface="Calibri" pitchFamily="34" charset="-120"/>
            </a:endParaRPr>
          </a:p>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BUSINESS PROBLEM</a:t>
            </a:r>
            <a:endParaRPr lang="en-US" sz="1200" dirty="0"/>
          </a:p>
        </p:txBody>
      </p:sp>
      <p:sp>
        <p:nvSpPr>
          <p:cNvPr id="3" name="Text 1"/>
          <p:cNvSpPr/>
          <p:nvPr/>
        </p:nvSpPr>
        <p:spPr>
          <a:xfrm>
            <a:off x="548640" y="777240"/>
            <a:ext cx="10515600" cy="1188720"/>
          </a:xfrm>
          <a:prstGeom prst="rect">
            <a:avLst/>
          </a:prstGeom>
          <a:noFill/>
          <a:ln/>
        </p:spPr>
        <p:txBody>
          <a:bodyPr wrap="square"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Why Do Some Customers Subscribe</a:t>
            </a:r>
            <a:endParaRPr lang="en-US" sz="3000" dirty="0"/>
          </a:p>
          <a:p>
            <a:pPr marL="0" indent="0">
              <a:buNone/>
            </a:pPr>
            <a:r>
              <a:rPr lang="en-US" sz="3000" b="1" dirty="0">
                <a:solidFill>
                  <a:srgbClr val="1E293B"/>
                </a:solidFill>
                <a:latin typeface="Cambria" pitchFamily="34" charset="0"/>
                <a:ea typeface="Cambria" pitchFamily="34" charset="-122"/>
                <a:cs typeface="Cambria" pitchFamily="34" charset="-120"/>
              </a:rPr>
              <a:t>and Others Don't?</a:t>
            </a:r>
            <a:endParaRPr lang="en-US" sz="3000" dirty="0"/>
          </a:p>
        </p:txBody>
      </p:sp>
      <p:sp>
        <p:nvSpPr>
          <p:cNvPr id="4" name="Shape 2"/>
          <p:cNvSpPr/>
          <p:nvPr/>
        </p:nvSpPr>
        <p:spPr>
          <a:xfrm>
            <a:off x="548640" y="2286000"/>
            <a:ext cx="3474720" cy="3291840"/>
          </a:xfrm>
          <a:prstGeom prst="roundRect">
            <a:avLst>
              <a:gd name="adj" fmla="val 2222"/>
            </a:avLst>
          </a:prstGeom>
          <a:solidFill>
            <a:srgbClr val="F4F6FB"/>
          </a:solidFill>
          <a:ln/>
          <a:effectLst>
            <a:outerShdw blurRad="76200" dist="25400" dir="2700000" algn="bl" rotWithShape="0">
              <a:srgbClr val="000000">
                <a:alpha val="10000"/>
              </a:srgbClr>
            </a:outerShdw>
          </a:effectLst>
        </p:spPr>
        <p:txBody>
          <a:bodyPr/>
          <a:lstStyle/>
          <a:p>
            <a:endParaRPr lang="en-NG"/>
          </a:p>
        </p:txBody>
      </p:sp>
      <p:sp>
        <p:nvSpPr>
          <p:cNvPr id="5" name="Text 3"/>
          <p:cNvSpPr/>
          <p:nvPr/>
        </p:nvSpPr>
        <p:spPr>
          <a:xfrm>
            <a:off x="777240" y="2514600"/>
            <a:ext cx="301752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The Challenge</a:t>
            </a:r>
            <a:endParaRPr lang="en-US" sz="1600" dirty="0"/>
          </a:p>
        </p:txBody>
      </p:sp>
      <p:sp>
        <p:nvSpPr>
          <p:cNvPr id="6" name="Text 4"/>
          <p:cNvSpPr/>
          <p:nvPr/>
        </p:nvSpPr>
        <p:spPr>
          <a:xfrm>
            <a:off x="777240" y="3017520"/>
            <a:ext cx="3017520" cy="23774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A bank ran a term-deposit telemarketing campaign. Management needs to know which customers are most likely to respond, so future campaigns spend effort where it converts.</a:t>
            </a:r>
            <a:endParaRPr lang="en-US" sz="1250" dirty="0"/>
          </a:p>
        </p:txBody>
      </p:sp>
      <p:sp>
        <p:nvSpPr>
          <p:cNvPr id="7" name="Shape 5"/>
          <p:cNvSpPr/>
          <p:nvPr/>
        </p:nvSpPr>
        <p:spPr>
          <a:xfrm>
            <a:off x="4297680" y="2286000"/>
            <a:ext cx="3474720" cy="3108960"/>
          </a:xfrm>
          <a:prstGeom prst="roundRect">
            <a:avLst>
              <a:gd name="adj" fmla="val 2222"/>
            </a:avLst>
          </a:prstGeom>
          <a:solidFill>
            <a:srgbClr val="F4F6FB"/>
          </a:solidFill>
          <a:ln/>
          <a:effectLst>
            <a:outerShdw blurRad="76200" dist="25400" dir="2700000" algn="bl" rotWithShape="0">
              <a:srgbClr val="000000">
                <a:alpha val="10000"/>
              </a:srgbClr>
            </a:outerShdw>
          </a:effectLst>
        </p:spPr>
        <p:txBody>
          <a:bodyPr/>
          <a:lstStyle/>
          <a:p>
            <a:endParaRPr lang="en-NG"/>
          </a:p>
        </p:txBody>
      </p:sp>
      <p:sp>
        <p:nvSpPr>
          <p:cNvPr id="8" name="Text 6"/>
          <p:cNvSpPr/>
          <p:nvPr/>
        </p:nvSpPr>
        <p:spPr>
          <a:xfrm>
            <a:off x="4526280" y="2514600"/>
            <a:ext cx="301752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Guiding Questions</a:t>
            </a:r>
            <a:endParaRPr lang="en-US" sz="1600" dirty="0"/>
          </a:p>
        </p:txBody>
      </p:sp>
      <p:sp>
        <p:nvSpPr>
          <p:cNvPr id="9" name="Text 7"/>
          <p:cNvSpPr/>
          <p:nvPr/>
        </p:nvSpPr>
        <p:spPr>
          <a:xfrm>
            <a:off x="4526280" y="3017520"/>
            <a:ext cx="3017520" cy="23774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Which customer segments respond best to outreach? Which factors — age, job, education, prior contact history — most influence a 'yes'?</a:t>
            </a:r>
            <a:endParaRPr lang="en-US" sz="1250" dirty="0"/>
          </a:p>
        </p:txBody>
      </p:sp>
      <p:sp>
        <p:nvSpPr>
          <p:cNvPr id="10" name="Shape 8"/>
          <p:cNvSpPr/>
          <p:nvPr/>
        </p:nvSpPr>
        <p:spPr>
          <a:xfrm>
            <a:off x="8046720" y="2286000"/>
            <a:ext cx="3474720" cy="3291840"/>
          </a:xfrm>
          <a:prstGeom prst="roundRect">
            <a:avLst>
              <a:gd name="adj" fmla="val 2222"/>
            </a:avLst>
          </a:prstGeom>
          <a:solidFill>
            <a:srgbClr val="F4F6FB"/>
          </a:solidFill>
          <a:ln/>
          <a:effectLst>
            <a:outerShdw blurRad="76200" dist="25400" dir="2700000" algn="bl" rotWithShape="0">
              <a:srgbClr val="000000">
                <a:alpha val="10000"/>
              </a:srgbClr>
            </a:outerShdw>
          </a:effectLst>
        </p:spPr>
        <p:txBody>
          <a:bodyPr/>
          <a:lstStyle/>
          <a:p>
            <a:endParaRPr lang="en-NG"/>
          </a:p>
        </p:txBody>
      </p:sp>
      <p:sp>
        <p:nvSpPr>
          <p:cNvPr id="11" name="Text 9"/>
          <p:cNvSpPr/>
          <p:nvPr/>
        </p:nvSpPr>
        <p:spPr>
          <a:xfrm>
            <a:off x="8275320" y="2514600"/>
            <a:ext cx="301752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Why It Matters</a:t>
            </a:r>
            <a:endParaRPr lang="en-US" sz="1600" dirty="0"/>
          </a:p>
        </p:txBody>
      </p:sp>
      <p:sp>
        <p:nvSpPr>
          <p:cNvPr id="12" name="Text 10"/>
          <p:cNvSpPr/>
          <p:nvPr/>
        </p:nvSpPr>
        <p:spPr>
          <a:xfrm>
            <a:off x="8275320" y="3017520"/>
            <a:ext cx="3017520" cy="23774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Untargeted campaigns waste call-center hours and frustrate customers who were never going to convert. Better targeting raises ROI on every contact made.</a:t>
            </a:r>
            <a:endParaRPr lang="en-US" sz="1250" dirty="0"/>
          </a:p>
        </p:txBody>
      </p:sp>
      <p:sp>
        <p:nvSpPr>
          <p:cNvPr id="13" name="Text 11"/>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DATASET OVERVIEW</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Bank Marketing Dataset</a:t>
            </a:r>
            <a:endParaRPr lang="en-US" sz="3000" dirty="0"/>
          </a:p>
        </p:txBody>
      </p:sp>
      <p:sp>
        <p:nvSpPr>
          <p:cNvPr id="4" name="Text 2"/>
          <p:cNvSpPr/>
          <p:nvPr/>
        </p:nvSpPr>
        <p:spPr>
          <a:xfrm>
            <a:off x="548640" y="1600200"/>
            <a:ext cx="2560320" cy="822960"/>
          </a:xfrm>
          <a:prstGeom prst="rect">
            <a:avLst/>
          </a:prstGeom>
          <a:noFill/>
          <a:ln/>
        </p:spPr>
        <p:txBody>
          <a:bodyPr wrap="square" rtlCol="0" anchor="ctr"/>
          <a:lstStyle/>
          <a:p>
            <a:pPr marL="0" indent="0" algn="l">
              <a:buNone/>
            </a:pPr>
            <a:r>
              <a:rPr lang="en-US" sz="3400" b="1" dirty="0">
                <a:solidFill>
                  <a:srgbClr val="D4A017"/>
                </a:solidFill>
                <a:latin typeface="Cambria" pitchFamily="34" charset="0"/>
                <a:ea typeface="Cambria" pitchFamily="34" charset="-122"/>
                <a:cs typeface="Cambria" pitchFamily="34" charset="-120"/>
              </a:rPr>
              <a:t>11,162</a:t>
            </a:r>
            <a:endParaRPr lang="en-US" sz="3400" dirty="0"/>
          </a:p>
        </p:txBody>
      </p:sp>
      <p:sp>
        <p:nvSpPr>
          <p:cNvPr id="5" name="Text 3"/>
          <p:cNvSpPr/>
          <p:nvPr/>
        </p:nvSpPr>
        <p:spPr>
          <a:xfrm>
            <a:off x="548640" y="2331720"/>
            <a:ext cx="2560320" cy="45720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Customer Records</a:t>
            </a:r>
            <a:endParaRPr lang="en-US" sz="1200" dirty="0"/>
          </a:p>
        </p:txBody>
      </p:sp>
      <p:sp>
        <p:nvSpPr>
          <p:cNvPr id="6" name="Text 4"/>
          <p:cNvSpPr/>
          <p:nvPr/>
        </p:nvSpPr>
        <p:spPr>
          <a:xfrm>
            <a:off x="3337560" y="1600200"/>
            <a:ext cx="2560320" cy="822960"/>
          </a:xfrm>
          <a:prstGeom prst="rect">
            <a:avLst/>
          </a:prstGeom>
          <a:noFill/>
          <a:ln/>
        </p:spPr>
        <p:txBody>
          <a:bodyPr wrap="square" rtlCol="0" anchor="ctr"/>
          <a:lstStyle/>
          <a:p>
            <a:pPr marL="0" indent="0" algn="l">
              <a:buNone/>
            </a:pPr>
            <a:r>
              <a:rPr lang="en-US" sz="3400" b="1" dirty="0">
                <a:solidFill>
                  <a:srgbClr val="D4A017"/>
                </a:solidFill>
                <a:latin typeface="Cambria" pitchFamily="34" charset="0"/>
                <a:ea typeface="Cambria" pitchFamily="34" charset="-122"/>
                <a:cs typeface="Cambria" pitchFamily="34" charset="-120"/>
              </a:rPr>
              <a:t>17</a:t>
            </a:r>
            <a:endParaRPr lang="en-US" sz="3400" dirty="0"/>
          </a:p>
        </p:txBody>
      </p:sp>
      <p:sp>
        <p:nvSpPr>
          <p:cNvPr id="7" name="Text 5"/>
          <p:cNvSpPr/>
          <p:nvPr/>
        </p:nvSpPr>
        <p:spPr>
          <a:xfrm>
            <a:off x="3337560" y="2331720"/>
            <a:ext cx="2560320" cy="45720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Attributes Captured</a:t>
            </a:r>
            <a:endParaRPr lang="en-US" sz="1200" dirty="0"/>
          </a:p>
        </p:txBody>
      </p:sp>
      <p:sp>
        <p:nvSpPr>
          <p:cNvPr id="8" name="Text 6"/>
          <p:cNvSpPr/>
          <p:nvPr/>
        </p:nvSpPr>
        <p:spPr>
          <a:xfrm>
            <a:off x="6126480" y="1600200"/>
            <a:ext cx="2560320" cy="822960"/>
          </a:xfrm>
          <a:prstGeom prst="rect">
            <a:avLst/>
          </a:prstGeom>
          <a:noFill/>
          <a:ln/>
        </p:spPr>
        <p:txBody>
          <a:bodyPr wrap="square" rtlCol="0" anchor="ctr"/>
          <a:lstStyle/>
          <a:p>
            <a:pPr marL="0" indent="0" algn="l">
              <a:buNone/>
            </a:pPr>
            <a:r>
              <a:rPr lang="en-US" sz="3400" b="1" dirty="0">
                <a:solidFill>
                  <a:srgbClr val="D4A017"/>
                </a:solidFill>
                <a:latin typeface="Cambria" pitchFamily="34" charset="0"/>
                <a:ea typeface="Cambria" pitchFamily="34" charset="-122"/>
                <a:cs typeface="Cambria" pitchFamily="34" charset="-120"/>
              </a:rPr>
              <a:t>0</a:t>
            </a:r>
            <a:endParaRPr lang="en-US" sz="3400" dirty="0"/>
          </a:p>
        </p:txBody>
      </p:sp>
      <p:sp>
        <p:nvSpPr>
          <p:cNvPr id="9" name="Text 7"/>
          <p:cNvSpPr/>
          <p:nvPr/>
        </p:nvSpPr>
        <p:spPr>
          <a:xfrm>
            <a:off x="6126480" y="2331720"/>
            <a:ext cx="2560320" cy="45720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True Nulls (uses 'unknown')</a:t>
            </a:r>
            <a:endParaRPr lang="en-US" sz="1200" dirty="0"/>
          </a:p>
        </p:txBody>
      </p:sp>
      <p:sp>
        <p:nvSpPr>
          <p:cNvPr id="10" name="Text 8"/>
          <p:cNvSpPr/>
          <p:nvPr/>
        </p:nvSpPr>
        <p:spPr>
          <a:xfrm>
            <a:off x="8915400" y="1600200"/>
            <a:ext cx="2560320" cy="822960"/>
          </a:xfrm>
          <a:prstGeom prst="rect">
            <a:avLst/>
          </a:prstGeom>
          <a:noFill/>
          <a:ln/>
        </p:spPr>
        <p:txBody>
          <a:bodyPr wrap="square" rtlCol="0" anchor="ctr"/>
          <a:lstStyle/>
          <a:p>
            <a:pPr marL="0" indent="0" algn="l">
              <a:buNone/>
            </a:pPr>
            <a:r>
              <a:rPr lang="en-US" sz="3400" b="1" dirty="0">
                <a:solidFill>
                  <a:srgbClr val="D4A017"/>
                </a:solidFill>
                <a:latin typeface="Cambria" pitchFamily="34" charset="0"/>
                <a:ea typeface="Cambria" pitchFamily="34" charset="-122"/>
                <a:cs typeface="Cambria" pitchFamily="34" charset="-120"/>
              </a:rPr>
              <a:t>~47%</a:t>
            </a:r>
            <a:endParaRPr lang="en-US" sz="3400" dirty="0"/>
          </a:p>
        </p:txBody>
      </p:sp>
      <p:sp>
        <p:nvSpPr>
          <p:cNvPr id="11" name="Text 9"/>
          <p:cNvSpPr/>
          <p:nvPr/>
        </p:nvSpPr>
        <p:spPr>
          <a:xfrm>
            <a:off x="8915400" y="2331720"/>
            <a:ext cx="2560320" cy="45720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Overall Subscription Rate*</a:t>
            </a:r>
            <a:endParaRPr lang="en-US" sz="1200" dirty="0"/>
          </a:p>
        </p:txBody>
      </p:sp>
      <p:sp>
        <p:nvSpPr>
          <p:cNvPr id="12" name="Shape 10"/>
          <p:cNvSpPr/>
          <p:nvPr/>
        </p:nvSpPr>
        <p:spPr>
          <a:xfrm>
            <a:off x="548640" y="3017520"/>
            <a:ext cx="11064240" cy="0"/>
          </a:xfrm>
          <a:prstGeom prst="line">
            <a:avLst/>
          </a:prstGeom>
          <a:noFill/>
          <a:ln w="12700">
            <a:solidFill>
              <a:srgbClr val="E2E8F0"/>
            </a:solidFill>
            <a:prstDash val="solid"/>
          </a:ln>
        </p:spPr>
        <p:txBody>
          <a:bodyPr/>
          <a:lstStyle/>
          <a:p>
            <a:endParaRPr lang="en-NG"/>
          </a:p>
        </p:txBody>
      </p:sp>
      <p:sp>
        <p:nvSpPr>
          <p:cNvPr id="13" name="Text 11"/>
          <p:cNvSpPr/>
          <p:nvPr/>
        </p:nvSpPr>
        <p:spPr>
          <a:xfrm>
            <a:off x="548640" y="3246120"/>
            <a:ext cx="73152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Key Fields Used in This Analysis</a:t>
            </a:r>
            <a:endParaRPr lang="en-US" sz="1500" dirty="0"/>
          </a:p>
        </p:txBody>
      </p:sp>
      <p:sp>
        <p:nvSpPr>
          <p:cNvPr id="14" name="Text 12"/>
          <p:cNvSpPr/>
          <p:nvPr/>
        </p:nvSpPr>
        <p:spPr>
          <a:xfrm>
            <a:off x="548640" y="3703320"/>
            <a:ext cx="10789920" cy="2103120"/>
          </a:xfrm>
          <a:prstGeom prst="rect">
            <a:avLst/>
          </a:prstGeom>
          <a:noFill/>
          <a:ln/>
        </p:spPr>
        <p:txBody>
          <a:bodyPr wrap="square" rtlCol="0" anchor="ctr"/>
          <a:lstStyle/>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age, job, marital, education — customer demographics</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balance, housing, loan, default — financial profile</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contact, month, day, campaign — outreach details</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poutcome, pdays, previous — prior campaign history</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duration — call length (outcome signal, not predictive input)</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deposit (y) — target variable: subscribed or not</a:t>
            </a:r>
            <a:endParaRPr lang="en-US" sz="1350" dirty="0"/>
          </a:p>
        </p:txBody>
      </p:sp>
      <p:sp>
        <p:nvSpPr>
          <p:cNvPr id="15" name="Text 13"/>
          <p:cNvSpPr/>
          <p:nvPr/>
        </p:nvSpPr>
        <p:spPr>
          <a:xfrm>
            <a:off x="548640" y="6217920"/>
            <a:ext cx="731520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*Placeholder — replace with your actual GROUP BY result from Query 4</a:t>
            </a:r>
            <a:endParaRPr lang="en-US" sz="1000" dirty="0"/>
          </a:p>
        </p:txBody>
      </p:sp>
      <p:sp>
        <p:nvSpPr>
          <p:cNvPr id="16" name="Text 14"/>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VISUALIZATIONS</a:t>
            </a:r>
            <a:endParaRPr lang="en-US" sz="1200" dirty="0"/>
          </a:p>
        </p:txBody>
      </p:sp>
      <p:sp>
        <p:nvSpPr>
          <p:cNvPr id="3" name="Text 1"/>
          <p:cNvSpPr/>
          <p:nvPr/>
        </p:nvSpPr>
        <p:spPr>
          <a:xfrm>
            <a:off x="548640" y="798755"/>
            <a:ext cx="10515600" cy="548640"/>
          </a:xfrm>
          <a:prstGeom prst="rect">
            <a:avLst/>
          </a:prstGeom>
          <a:noFill/>
          <a:ln/>
        </p:spPr>
        <p:txBody>
          <a:bodyPr wrap="square" rtlCol="0" anchor="ctr"/>
          <a:lstStyle/>
          <a:p>
            <a:pPr marL="0" indent="0">
              <a:buNone/>
            </a:pPr>
            <a:r>
              <a:rPr lang="en-US" sz="2600" b="1" dirty="0">
                <a:solidFill>
                  <a:srgbClr val="1E293B"/>
                </a:solidFill>
                <a:latin typeface="Cambria" pitchFamily="34" charset="0"/>
                <a:ea typeface="Cambria" pitchFamily="34" charset="-122"/>
                <a:cs typeface="Cambria" pitchFamily="34" charset="-120"/>
              </a:rPr>
              <a:t>Subscription Rate by Job &amp; Education</a:t>
            </a:r>
            <a:endParaRPr lang="en-US" sz="2600" dirty="0"/>
          </a:p>
        </p:txBody>
      </p:sp>
      <p:graphicFrame>
        <p:nvGraphicFramePr>
          <p:cNvPr id="5" name="Chart 1"/>
          <p:cNvGraphicFramePr/>
          <p:nvPr>
            <p:extLst>
              <p:ext uri="{D42A27DB-BD31-4B8C-83A1-F6EECF244321}">
                <p14:modId xmlns:p14="http://schemas.microsoft.com/office/powerpoint/2010/main" val="2293702623"/>
              </p:ext>
            </p:extLst>
          </p:nvPr>
        </p:nvGraphicFramePr>
        <p:xfrm>
          <a:off x="8095128" y="4491318"/>
          <a:ext cx="3609191" cy="172660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548640" y="6355080"/>
            <a:ext cx="731520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Placeholder data — replace with results from Queries 5 &amp; 6</a:t>
            </a:r>
            <a:endParaRPr lang="en-US" sz="1000" dirty="0"/>
          </a:p>
        </p:txBody>
      </p:sp>
      <p:sp>
        <p:nvSpPr>
          <p:cNvPr id="7" name="Text 3"/>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pic>
        <p:nvPicPr>
          <p:cNvPr id="9" name="Picture 8">
            <a:extLst>
              <a:ext uri="{FF2B5EF4-FFF2-40B4-BE49-F238E27FC236}">
                <a16:creationId xmlns:a16="http://schemas.microsoft.com/office/drawing/2014/main" id="{E7152B35-587E-7A37-46BE-90EEC6C8AD73}"/>
              </a:ext>
            </a:extLst>
          </p:cNvPr>
          <p:cNvPicPr>
            <a:picLocks noChangeAspect="1"/>
          </p:cNvPicPr>
          <p:nvPr/>
        </p:nvPicPr>
        <p:blipFill>
          <a:blip r:embed="rId4"/>
          <a:stretch>
            <a:fillRect/>
          </a:stretch>
        </p:blipFill>
        <p:spPr>
          <a:xfrm>
            <a:off x="548639" y="1586753"/>
            <a:ext cx="5547361" cy="4106732"/>
          </a:xfrm>
          <a:prstGeom prst="rect">
            <a:avLst/>
          </a:prstGeom>
        </p:spPr>
      </p:pic>
      <p:pic>
        <p:nvPicPr>
          <p:cNvPr id="13" name="Picture 12">
            <a:extLst>
              <a:ext uri="{FF2B5EF4-FFF2-40B4-BE49-F238E27FC236}">
                <a16:creationId xmlns:a16="http://schemas.microsoft.com/office/drawing/2014/main" id="{8DC43A54-43B5-1F18-D8B4-258AE102DB55}"/>
              </a:ext>
            </a:extLst>
          </p:cNvPr>
          <p:cNvPicPr>
            <a:picLocks noChangeAspect="1"/>
          </p:cNvPicPr>
          <p:nvPr/>
        </p:nvPicPr>
        <p:blipFill>
          <a:blip r:embed="rId5"/>
          <a:stretch>
            <a:fillRect/>
          </a:stretch>
        </p:blipFill>
        <p:spPr>
          <a:xfrm>
            <a:off x="6096000" y="1426573"/>
            <a:ext cx="5547361" cy="42669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VISUALIZATIONS</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600" b="1" dirty="0">
                <a:solidFill>
                  <a:srgbClr val="1E293B"/>
                </a:solidFill>
                <a:latin typeface="Cambria" pitchFamily="34" charset="0"/>
                <a:ea typeface="Cambria" pitchFamily="34" charset="-122"/>
                <a:cs typeface="Cambria" pitchFamily="34" charset="-120"/>
              </a:rPr>
              <a:t>Total Customers by age(bins), deposit &amp; Contact Method</a:t>
            </a:r>
            <a:endParaRPr lang="en-US" sz="2600" dirty="0"/>
          </a:p>
        </p:txBody>
      </p:sp>
      <p:sp>
        <p:nvSpPr>
          <p:cNvPr id="6" name="Text 2"/>
          <p:cNvSpPr/>
          <p:nvPr/>
        </p:nvSpPr>
        <p:spPr>
          <a:xfrm>
            <a:off x="548640" y="6355080"/>
            <a:ext cx="731520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Placeholder data — replace with results from Queries 9 &amp; 10</a:t>
            </a:r>
            <a:endParaRPr lang="en-US" sz="1000" dirty="0"/>
          </a:p>
        </p:txBody>
      </p:sp>
      <p:sp>
        <p:nvSpPr>
          <p:cNvPr id="7" name="Text 3"/>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pic>
        <p:nvPicPr>
          <p:cNvPr id="9" name="Picture 8">
            <a:extLst>
              <a:ext uri="{FF2B5EF4-FFF2-40B4-BE49-F238E27FC236}">
                <a16:creationId xmlns:a16="http://schemas.microsoft.com/office/drawing/2014/main" id="{BC8AF688-0431-A2D7-CB5F-159C6004AD50}"/>
              </a:ext>
            </a:extLst>
          </p:cNvPr>
          <p:cNvPicPr>
            <a:picLocks noChangeAspect="1"/>
          </p:cNvPicPr>
          <p:nvPr/>
        </p:nvPicPr>
        <p:blipFill>
          <a:blip r:embed="rId3"/>
          <a:stretch>
            <a:fillRect/>
          </a:stretch>
        </p:blipFill>
        <p:spPr>
          <a:xfrm>
            <a:off x="7059706" y="1869141"/>
            <a:ext cx="4918934" cy="3845859"/>
          </a:xfrm>
          <a:prstGeom prst="rect">
            <a:avLst/>
          </a:prstGeom>
        </p:spPr>
      </p:pic>
      <p:pic>
        <p:nvPicPr>
          <p:cNvPr id="11" name="Picture 10">
            <a:extLst>
              <a:ext uri="{FF2B5EF4-FFF2-40B4-BE49-F238E27FC236}">
                <a16:creationId xmlns:a16="http://schemas.microsoft.com/office/drawing/2014/main" id="{2DC0CE78-FDD3-3666-D50A-D9BC637A2DAA}"/>
              </a:ext>
            </a:extLst>
          </p:cNvPr>
          <p:cNvPicPr>
            <a:picLocks noChangeAspect="1"/>
          </p:cNvPicPr>
          <p:nvPr/>
        </p:nvPicPr>
        <p:blipFill>
          <a:blip r:embed="rId4"/>
          <a:stretch>
            <a:fillRect/>
          </a:stretch>
        </p:blipFill>
        <p:spPr>
          <a:xfrm>
            <a:off x="457201" y="1869141"/>
            <a:ext cx="5916706" cy="36553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D4A017"/>
                </a:solidFill>
                <a:latin typeface="Calibri" pitchFamily="34" charset="0"/>
                <a:ea typeface="Calibri" pitchFamily="34" charset="-122"/>
                <a:cs typeface="Calibri" pitchFamily="34" charset="-120"/>
              </a:rPr>
              <a:t>MAJOR FINDINGS</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the Data Tells Us</a:t>
            </a:r>
            <a:endParaRPr lang="en-US" sz="2800" dirty="0"/>
          </a:p>
        </p:txBody>
      </p:sp>
      <p:sp>
        <p:nvSpPr>
          <p:cNvPr id="4" name="Text 2"/>
          <p:cNvSpPr/>
          <p:nvPr/>
        </p:nvSpPr>
        <p:spPr>
          <a:xfrm>
            <a:off x="548640" y="1600200"/>
            <a:ext cx="1097280" cy="914400"/>
          </a:xfrm>
          <a:prstGeom prst="rect">
            <a:avLst/>
          </a:prstGeom>
          <a:noFill/>
          <a:ln/>
        </p:spPr>
        <p:txBody>
          <a:bodyPr wrap="square" rtlCol="0" anchor="ctr"/>
          <a:lstStyle/>
          <a:p>
            <a:pPr marL="0" indent="0">
              <a:buNone/>
            </a:pPr>
            <a:r>
              <a:rPr lang="en-US" sz="3400" b="1" dirty="0">
                <a:solidFill>
                  <a:srgbClr val="D4A017"/>
                </a:solidFill>
                <a:latin typeface="Cambria" pitchFamily="34" charset="0"/>
                <a:ea typeface="Cambria" pitchFamily="34" charset="-122"/>
                <a:cs typeface="Cambria" pitchFamily="34" charset="-120"/>
              </a:rPr>
              <a:t>01</a:t>
            </a:r>
            <a:endParaRPr lang="en-US" sz="3400" dirty="0"/>
          </a:p>
        </p:txBody>
      </p:sp>
      <p:sp>
        <p:nvSpPr>
          <p:cNvPr id="5" name="Text 3"/>
          <p:cNvSpPr/>
          <p:nvPr/>
        </p:nvSpPr>
        <p:spPr>
          <a:xfrm>
            <a:off x="1554480" y="1645920"/>
            <a:ext cx="429768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Past success predicts future success</a:t>
            </a:r>
            <a:endParaRPr lang="en-US" sz="1500" dirty="0"/>
          </a:p>
        </p:txBody>
      </p:sp>
      <p:sp>
        <p:nvSpPr>
          <p:cNvPr id="6" name="Text 4"/>
          <p:cNvSpPr/>
          <p:nvPr/>
        </p:nvSpPr>
        <p:spPr>
          <a:xfrm>
            <a:off x="1554480" y="2148840"/>
            <a:ext cx="4297680" cy="155448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Customers with a prior successful campaign outcome subscribe at nearly double the rate of cold contacts.</a:t>
            </a:r>
            <a:endParaRPr lang="en-US" sz="1200" dirty="0"/>
          </a:p>
        </p:txBody>
      </p:sp>
      <p:sp>
        <p:nvSpPr>
          <p:cNvPr id="7" name="Text 5"/>
          <p:cNvSpPr/>
          <p:nvPr/>
        </p:nvSpPr>
        <p:spPr>
          <a:xfrm>
            <a:off x="6172200" y="1600200"/>
            <a:ext cx="1097280" cy="914400"/>
          </a:xfrm>
          <a:prstGeom prst="rect">
            <a:avLst/>
          </a:prstGeom>
          <a:noFill/>
          <a:ln/>
        </p:spPr>
        <p:txBody>
          <a:bodyPr wrap="square" rtlCol="0" anchor="ctr"/>
          <a:lstStyle/>
          <a:p>
            <a:pPr marL="0" indent="0">
              <a:buNone/>
            </a:pPr>
            <a:r>
              <a:rPr lang="en-US" sz="3400" b="1" dirty="0">
                <a:solidFill>
                  <a:srgbClr val="D4A017"/>
                </a:solidFill>
                <a:latin typeface="Cambria" pitchFamily="34" charset="0"/>
                <a:ea typeface="Cambria" pitchFamily="34" charset="-122"/>
                <a:cs typeface="Cambria" pitchFamily="34" charset="-120"/>
              </a:rPr>
              <a:t>02</a:t>
            </a:r>
            <a:endParaRPr lang="en-US" sz="3400" dirty="0"/>
          </a:p>
        </p:txBody>
      </p:sp>
      <p:sp>
        <p:nvSpPr>
          <p:cNvPr id="8" name="Text 6"/>
          <p:cNvSpPr/>
          <p:nvPr/>
        </p:nvSpPr>
        <p:spPr>
          <a:xfrm>
            <a:off x="7178040" y="1645920"/>
            <a:ext cx="429768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Retirees &amp; students convert best</a:t>
            </a:r>
            <a:endParaRPr lang="en-US" sz="1500" dirty="0"/>
          </a:p>
        </p:txBody>
      </p:sp>
      <p:sp>
        <p:nvSpPr>
          <p:cNvPr id="9" name="Text 7"/>
          <p:cNvSpPr/>
          <p:nvPr/>
        </p:nvSpPr>
        <p:spPr>
          <a:xfrm>
            <a:off x="7178040" y="2148840"/>
            <a:ext cx="4297680" cy="155448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These segments consistently out-convert blue-collar and admin roles, yet receive comparable outreach effort.</a:t>
            </a:r>
            <a:endParaRPr lang="en-US" sz="1200" dirty="0"/>
          </a:p>
        </p:txBody>
      </p:sp>
      <p:sp>
        <p:nvSpPr>
          <p:cNvPr id="10" name="Text 8"/>
          <p:cNvSpPr/>
          <p:nvPr/>
        </p:nvSpPr>
        <p:spPr>
          <a:xfrm>
            <a:off x="548640" y="3977640"/>
            <a:ext cx="1097280" cy="914400"/>
          </a:xfrm>
          <a:prstGeom prst="rect">
            <a:avLst/>
          </a:prstGeom>
          <a:noFill/>
          <a:ln/>
        </p:spPr>
        <p:txBody>
          <a:bodyPr wrap="square" rtlCol="0" anchor="ctr"/>
          <a:lstStyle/>
          <a:p>
            <a:pPr marL="0" indent="0">
              <a:buNone/>
            </a:pPr>
            <a:r>
              <a:rPr lang="en-US" sz="3400" b="1" dirty="0">
                <a:solidFill>
                  <a:srgbClr val="D4A017"/>
                </a:solidFill>
                <a:latin typeface="Cambria" pitchFamily="34" charset="0"/>
                <a:ea typeface="Cambria" pitchFamily="34" charset="-122"/>
                <a:cs typeface="Cambria" pitchFamily="34" charset="-120"/>
              </a:rPr>
              <a:t>03</a:t>
            </a:r>
            <a:endParaRPr lang="en-US" sz="3400" dirty="0"/>
          </a:p>
        </p:txBody>
      </p:sp>
      <p:sp>
        <p:nvSpPr>
          <p:cNvPr id="11" name="Text 9"/>
          <p:cNvSpPr/>
          <p:nvPr/>
        </p:nvSpPr>
        <p:spPr>
          <a:xfrm>
            <a:off x="1554480" y="4023360"/>
            <a:ext cx="429768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Contact fatigue is real</a:t>
            </a:r>
            <a:endParaRPr lang="en-US" sz="1500" dirty="0"/>
          </a:p>
        </p:txBody>
      </p:sp>
      <p:sp>
        <p:nvSpPr>
          <p:cNvPr id="12" name="Text 10"/>
          <p:cNvSpPr/>
          <p:nvPr/>
        </p:nvSpPr>
        <p:spPr>
          <a:xfrm>
            <a:off x="1554480" y="4526280"/>
            <a:ext cx="4297680" cy="155448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Subscription rate declines after repeated contact attempts within the same campaign — more calls isn't always better.</a:t>
            </a:r>
            <a:endParaRPr lang="en-US" sz="1200" dirty="0"/>
          </a:p>
        </p:txBody>
      </p:sp>
      <p:sp>
        <p:nvSpPr>
          <p:cNvPr id="13" name="Text 11"/>
          <p:cNvSpPr/>
          <p:nvPr/>
        </p:nvSpPr>
        <p:spPr>
          <a:xfrm>
            <a:off x="6172200" y="3977640"/>
            <a:ext cx="1097280" cy="914400"/>
          </a:xfrm>
          <a:prstGeom prst="rect">
            <a:avLst/>
          </a:prstGeom>
          <a:noFill/>
          <a:ln/>
        </p:spPr>
        <p:txBody>
          <a:bodyPr wrap="square" rtlCol="0" anchor="ctr"/>
          <a:lstStyle/>
          <a:p>
            <a:pPr marL="0" indent="0">
              <a:buNone/>
            </a:pPr>
            <a:r>
              <a:rPr lang="en-US" sz="3400" b="1" dirty="0">
                <a:solidFill>
                  <a:srgbClr val="D4A017"/>
                </a:solidFill>
                <a:latin typeface="Cambria" pitchFamily="34" charset="0"/>
                <a:ea typeface="Cambria" pitchFamily="34" charset="-122"/>
                <a:cs typeface="Cambria" pitchFamily="34" charset="-120"/>
              </a:rPr>
              <a:t>04</a:t>
            </a:r>
            <a:endParaRPr lang="en-US" sz="3400" dirty="0"/>
          </a:p>
        </p:txBody>
      </p:sp>
      <p:sp>
        <p:nvSpPr>
          <p:cNvPr id="14" name="Text 12"/>
          <p:cNvSpPr/>
          <p:nvPr/>
        </p:nvSpPr>
        <p:spPr>
          <a:xfrm>
            <a:off x="7178040" y="4023360"/>
            <a:ext cx="429768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Timing shifts results</a:t>
            </a:r>
            <a:endParaRPr lang="en-US" sz="1500" dirty="0"/>
          </a:p>
        </p:txBody>
      </p:sp>
      <p:sp>
        <p:nvSpPr>
          <p:cNvPr id="15" name="Text 13"/>
          <p:cNvSpPr/>
          <p:nvPr/>
        </p:nvSpPr>
        <p:spPr>
          <a:xfrm>
            <a:off x="7178040" y="4526280"/>
            <a:ext cx="4297680" cy="155448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Subscription rates vary meaningfully by month, pointing to seasonal windows worth prioritizing.</a:t>
            </a:r>
            <a:endParaRPr lang="en-US" sz="1200" dirty="0"/>
          </a:p>
        </p:txBody>
      </p:sp>
      <p:sp>
        <p:nvSpPr>
          <p:cNvPr id="16" name="Text 14"/>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What the Bank Should Do Next</a:t>
            </a:r>
            <a:endParaRPr lang="en-US" sz="2800" dirty="0"/>
          </a:p>
        </p:txBody>
      </p:sp>
      <p:sp>
        <p:nvSpPr>
          <p:cNvPr id="4" name="Shape 2"/>
          <p:cNvSpPr/>
          <p:nvPr/>
        </p:nvSpPr>
        <p:spPr>
          <a:xfrm>
            <a:off x="548640" y="1600200"/>
            <a:ext cx="457200" cy="457200"/>
          </a:xfrm>
          <a:prstGeom prst="ellipse">
            <a:avLst/>
          </a:prstGeom>
          <a:solidFill>
            <a:srgbClr val="1E2761"/>
          </a:solidFill>
          <a:ln/>
        </p:spPr>
        <p:txBody>
          <a:bodyPr/>
          <a:lstStyle/>
          <a:p>
            <a:endParaRPr lang="en-NG"/>
          </a:p>
        </p:txBody>
      </p:sp>
      <p:sp>
        <p:nvSpPr>
          <p:cNvPr id="5" name="Text 3"/>
          <p:cNvSpPr/>
          <p:nvPr/>
        </p:nvSpPr>
        <p:spPr>
          <a:xfrm>
            <a:off x="548640" y="16002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554480"/>
            <a:ext cx="10058400" cy="73152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Prioritize re-contacting customers with a prior successful campaign outcome — route them to the top of the call list.</a:t>
            </a:r>
            <a:endParaRPr lang="en-US" sz="1400" dirty="0"/>
          </a:p>
        </p:txBody>
      </p:sp>
      <p:sp>
        <p:nvSpPr>
          <p:cNvPr id="7" name="Shape 5"/>
          <p:cNvSpPr/>
          <p:nvPr/>
        </p:nvSpPr>
        <p:spPr>
          <a:xfrm>
            <a:off x="548640" y="2468880"/>
            <a:ext cx="457200" cy="457200"/>
          </a:xfrm>
          <a:prstGeom prst="ellipse">
            <a:avLst/>
          </a:prstGeom>
          <a:solidFill>
            <a:srgbClr val="1E2761"/>
          </a:solidFill>
          <a:ln/>
        </p:spPr>
        <p:txBody>
          <a:bodyPr/>
          <a:lstStyle/>
          <a:p>
            <a:endParaRPr lang="en-NG"/>
          </a:p>
        </p:txBody>
      </p:sp>
      <p:sp>
        <p:nvSpPr>
          <p:cNvPr id="8" name="Text 6"/>
          <p:cNvSpPr/>
          <p:nvPr/>
        </p:nvSpPr>
        <p:spPr>
          <a:xfrm>
            <a:off x="548640" y="24688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34440" y="2423160"/>
            <a:ext cx="10058400" cy="73152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Reallocate outreach effort toward retired and student segments with tailored messaging for each.</a:t>
            </a:r>
            <a:endParaRPr lang="en-US" sz="1400" dirty="0"/>
          </a:p>
        </p:txBody>
      </p:sp>
      <p:sp>
        <p:nvSpPr>
          <p:cNvPr id="10" name="Shape 8"/>
          <p:cNvSpPr/>
          <p:nvPr/>
        </p:nvSpPr>
        <p:spPr>
          <a:xfrm>
            <a:off x="548640" y="3337560"/>
            <a:ext cx="457200" cy="457200"/>
          </a:xfrm>
          <a:prstGeom prst="ellipse">
            <a:avLst/>
          </a:prstGeom>
          <a:solidFill>
            <a:srgbClr val="1E2761"/>
          </a:solidFill>
          <a:ln/>
        </p:spPr>
        <p:txBody>
          <a:bodyPr/>
          <a:lstStyle/>
          <a:p>
            <a:endParaRPr lang="en-NG"/>
          </a:p>
        </p:txBody>
      </p:sp>
      <p:sp>
        <p:nvSpPr>
          <p:cNvPr id="11" name="Text 9"/>
          <p:cNvSpPr/>
          <p:nvPr/>
        </p:nvSpPr>
        <p:spPr>
          <a:xfrm>
            <a:off x="548640" y="333756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234440" y="3291840"/>
            <a:ext cx="10058400" cy="73152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Cap contact attempts per customer per campaign to reduce fatigue and free up capacity for warmer leads.</a:t>
            </a:r>
            <a:endParaRPr lang="en-US" sz="1400" dirty="0"/>
          </a:p>
        </p:txBody>
      </p:sp>
      <p:sp>
        <p:nvSpPr>
          <p:cNvPr id="13" name="Shape 11"/>
          <p:cNvSpPr/>
          <p:nvPr/>
        </p:nvSpPr>
        <p:spPr>
          <a:xfrm>
            <a:off x="548640" y="4206240"/>
            <a:ext cx="457200" cy="457200"/>
          </a:xfrm>
          <a:prstGeom prst="ellipse">
            <a:avLst/>
          </a:prstGeom>
          <a:solidFill>
            <a:srgbClr val="1E2761"/>
          </a:solidFill>
          <a:ln/>
        </p:spPr>
        <p:txBody>
          <a:bodyPr/>
          <a:lstStyle/>
          <a:p>
            <a:endParaRPr lang="en-NG"/>
          </a:p>
        </p:txBody>
      </p:sp>
      <p:sp>
        <p:nvSpPr>
          <p:cNvPr id="14" name="Text 12"/>
          <p:cNvSpPr/>
          <p:nvPr/>
        </p:nvSpPr>
        <p:spPr>
          <a:xfrm>
            <a:off x="548640" y="42062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234440" y="4160520"/>
            <a:ext cx="10058400" cy="73152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Concentrate campaign intensity in historically high-converting months; scale back in low-performing months.</a:t>
            </a:r>
            <a:endParaRPr lang="en-US" sz="1400" dirty="0"/>
          </a:p>
        </p:txBody>
      </p:sp>
      <p:sp>
        <p:nvSpPr>
          <p:cNvPr id="16" name="Shape 14"/>
          <p:cNvSpPr/>
          <p:nvPr/>
        </p:nvSpPr>
        <p:spPr>
          <a:xfrm>
            <a:off x="548640" y="5074920"/>
            <a:ext cx="457200" cy="457200"/>
          </a:xfrm>
          <a:prstGeom prst="ellipse">
            <a:avLst/>
          </a:prstGeom>
          <a:solidFill>
            <a:srgbClr val="1E2761"/>
          </a:solidFill>
          <a:ln/>
        </p:spPr>
        <p:txBody>
          <a:bodyPr/>
          <a:lstStyle/>
          <a:p>
            <a:endParaRPr lang="en-NG"/>
          </a:p>
        </p:txBody>
      </p:sp>
      <p:sp>
        <p:nvSpPr>
          <p:cNvPr id="17" name="Text 15"/>
          <p:cNvSpPr/>
          <p:nvPr/>
        </p:nvSpPr>
        <p:spPr>
          <a:xfrm>
            <a:off x="548640" y="507492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234440" y="5029200"/>
            <a:ext cx="10058400" cy="73152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Use call duration as a coaching signal — study successful longer calls and train agents on those techniques.</a:t>
            </a:r>
            <a:endParaRPr lang="en-US" sz="1400" dirty="0"/>
          </a:p>
        </p:txBody>
      </p:sp>
      <p:sp>
        <p:nvSpPr>
          <p:cNvPr id="19" name="Text 17"/>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914400"/>
            <a:ext cx="7315200" cy="548640"/>
          </a:xfrm>
          <a:prstGeom prst="rect">
            <a:avLst/>
          </a:prstGeom>
          <a:noFill/>
          <a:ln/>
        </p:spPr>
        <p:txBody>
          <a:bodyPr wrap="square" rtlCol="0" anchor="ctr"/>
          <a:lstStyle/>
          <a:p>
            <a:pPr marL="0" indent="0">
              <a:buNone/>
            </a:pPr>
            <a:r>
              <a:rPr lang="en-US" sz="1600" b="1" kern="0" spc="200" dirty="0">
                <a:solidFill>
                  <a:srgbClr val="D4A017"/>
                </a:solidFill>
                <a:latin typeface="Cambria" pitchFamily="34" charset="0"/>
                <a:ea typeface="Cambria" pitchFamily="34" charset="-122"/>
                <a:cs typeface="Cambria" pitchFamily="34" charset="-120"/>
              </a:rPr>
              <a:t>Conclusion</a:t>
            </a:r>
            <a:endParaRPr lang="en-US" sz="1600" dirty="0"/>
          </a:p>
        </p:txBody>
      </p:sp>
      <p:sp>
        <p:nvSpPr>
          <p:cNvPr id="3" name="Text 1"/>
          <p:cNvSpPr/>
          <p:nvPr/>
        </p:nvSpPr>
        <p:spPr>
          <a:xfrm>
            <a:off x="731520" y="1463040"/>
            <a:ext cx="100584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Targeted Outreach Beats Broad Outreach</a:t>
            </a:r>
            <a:endParaRPr lang="en-US" sz="3200" dirty="0"/>
          </a:p>
        </p:txBody>
      </p:sp>
      <p:sp>
        <p:nvSpPr>
          <p:cNvPr id="4" name="Text 2"/>
          <p:cNvSpPr/>
          <p:nvPr/>
        </p:nvSpPr>
        <p:spPr>
          <a:xfrm>
            <a:off x="731520" y="2560320"/>
            <a:ext cx="9601200" cy="1828800"/>
          </a:xfrm>
          <a:prstGeom prst="rect">
            <a:avLst/>
          </a:prstGeom>
          <a:noFill/>
          <a:ln/>
        </p:spPr>
        <p:txBody>
          <a:bodyPr wrap="square" rtlCol="0" anchor="t"/>
          <a:lstStyle/>
          <a:p>
            <a:pPr marL="0" indent="0">
              <a:buNone/>
            </a:pPr>
            <a:r>
              <a:rPr lang="en-US" sz="1500" dirty="0">
                <a:solidFill>
                  <a:srgbClr val="CADCFC"/>
                </a:solidFill>
                <a:latin typeface="Calibri" pitchFamily="34" charset="0"/>
                <a:ea typeface="Calibri" pitchFamily="34" charset="-122"/>
                <a:cs typeface="Calibri" pitchFamily="34" charset="-120"/>
              </a:rPr>
              <a:t>Subscription behavior is not random — it is concentrated in specific, identifiable segments: customers with prior success, retirees, students, and those contacted through the right channel at the right time. By focusing campaign effort on these signals rather than contacting the full customer base equally, the bank can raise conversion rates while reducing wasted call-center hours.</a:t>
            </a:r>
            <a:endParaRPr lang="en-US" sz="1500" dirty="0"/>
          </a:p>
        </p:txBody>
      </p:sp>
      <p:sp>
        <p:nvSpPr>
          <p:cNvPr id="5" name="Shape 3"/>
          <p:cNvSpPr/>
          <p:nvPr/>
        </p:nvSpPr>
        <p:spPr>
          <a:xfrm>
            <a:off x="731520" y="4846320"/>
            <a:ext cx="10058400" cy="0"/>
          </a:xfrm>
          <a:prstGeom prst="line">
            <a:avLst/>
          </a:prstGeom>
          <a:noFill/>
          <a:ln w="12700">
            <a:solidFill>
              <a:srgbClr val="3A4A8C"/>
            </a:solidFill>
            <a:prstDash val="solid"/>
          </a:ln>
        </p:spPr>
        <p:txBody>
          <a:bodyPr/>
          <a:lstStyle/>
          <a:p>
            <a:endParaRPr lang="en-NG"/>
          </a:p>
        </p:txBody>
      </p:sp>
      <p:sp>
        <p:nvSpPr>
          <p:cNvPr id="6" name="Text 4"/>
          <p:cNvSpPr/>
          <p:nvPr/>
        </p:nvSpPr>
        <p:spPr>
          <a:xfrm>
            <a:off x="731520" y="5120640"/>
            <a:ext cx="7315200" cy="7315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Prepared by Chidozie Williams </a:t>
            </a:r>
            <a:r>
              <a:rPr lang="en-US" sz="1300" b="1" dirty="0" err="1">
                <a:solidFill>
                  <a:srgbClr val="CADCFC"/>
                </a:solidFill>
                <a:latin typeface="Calibri" pitchFamily="34" charset="0"/>
                <a:ea typeface="Calibri" pitchFamily="34" charset="-122"/>
                <a:cs typeface="Calibri" pitchFamily="34" charset="-120"/>
              </a:rPr>
              <a:t>Iheme</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AnalystLab Africa Internship —  Week 5</a:t>
            </a:r>
            <a:endParaRPr lang="en-US" sz="1300" dirty="0"/>
          </a:p>
        </p:txBody>
      </p:sp>
      <p:sp>
        <p:nvSpPr>
          <p:cNvPr id="7" name="Text 5"/>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1564</TotalTime>
  <Words>561</Words>
  <Application>Microsoft Office PowerPoint</Application>
  <PresentationFormat>Widescreen</PresentationFormat>
  <Paragraphs>85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 Campaign Analysis</dc:title>
  <dc:subject>PptxGenJS Presentation</dc:subject>
  <dc:creator>Chidozie</dc:creator>
  <cp:lastModifiedBy>DOZIE IHEME</cp:lastModifiedBy>
  <cp:revision>4</cp:revision>
  <dcterms:created xsi:type="dcterms:W3CDTF">2026-07-09T11:09:41Z</dcterms:created>
  <dcterms:modified xsi:type="dcterms:W3CDTF">2026-07-10T13:59:27Z</dcterms:modified>
</cp:coreProperties>
</file>